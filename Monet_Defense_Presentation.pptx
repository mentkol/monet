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 snapToObjects="1">
      <p:cViewPr>
        <p:scale>
          <a:sx n="100" d="100"/>
          <a:sy n="100" d="100"/>
        </p:scale>
        <p:origin x="1864" y="10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1828800"/>
            <a:ext cx="1088136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000" b="1" i="0">
                <a:solidFill>
                  <a:srgbClr val="222222"/>
                </a:solidFill>
                <a:latin typeface="Calibri"/>
              </a:rPr>
              <a:t>Monet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10881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200" b="0" i="0">
                <a:solidFill>
                  <a:srgbClr val="3D3D3D"/>
                </a:solidFill>
                <a:latin typeface="Calibri"/>
              </a:rPr>
              <a:t>A Browser Extension that Detects AI-Made YouTube Shorts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3703320"/>
            <a:ext cx="2743200" cy="0"/>
          </a:xfrm>
          <a:prstGeom prst="line">
            <a:avLst/>
          </a:prstGeom>
          <a:ln w="1905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3931920"/>
            <a:ext cx="10515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600" dirty="0"/>
              <a:t>Runs locally on your computer to flag AI-generated short videos in real time. 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lang="en-US" sz="1600" dirty="0"/>
              <a:t>Your videos never leave your device.</a:t>
            </a:r>
            <a:endParaRPr sz="1600" b="0" i="0" dirty="0">
              <a:solidFill>
                <a:srgbClr val="666666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5486400"/>
            <a:ext cx="108813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3D3D3D"/>
                </a:solidFill>
                <a:latin typeface="Calibri"/>
              </a:rPr>
              <a:t>Presented by:  </a:t>
            </a:r>
            <a:r>
              <a:rPr lang="en-US" sz="1400" b="0" i="0" dirty="0">
                <a:solidFill>
                  <a:srgbClr val="3D3D3D"/>
                </a:solidFill>
                <a:latin typeface="Calibri"/>
              </a:rPr>
              <a:t>Priti Singh Nepali, Bipul Kunwar</a:t>
            </a:r>
            <a:endParaRPr sz="1400" b="0" i="0" dirty="0">
              <a:solidFill>
                <a:srgbClr val="3D3D3D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dirty="0">
                <a:solidFill>
                  <a:srgbClr val="3D3D3D"/>
                </a:solidFill>
                <a:latin typeface="Calibri"/>
              </a:rPr>
              <a:t>Supervisor:  </a:t>
            </a:r>
            <a:r>
              <a:rPr lang="en-US" sz="1400" b="0" i="0" dirty="0" err="1">
                <a:solidFill>
                  <a:srgbClr val="3D3D3D"/>
                </a:solidFill>
                <a:latin typeface="Calibri"/>
              </a:rPr>
              <a:t>Dadhi</a:t>
            </a:r>
            <a:r>
              <a:rPr lang="en-US" sz="1400" b="0" i="0" dirty="0">
                <a:solidFill>
                  <a:srgbClr val="3D3D3D"/>
                </a:solidFill>
                <a:latin typeface="Calibri"/>
              </a:rPr>
              <a:t> Ram Ghimire</a:t>
            </a:r>
            <a:endParaRPr sz="1400" b="0" i="0" dirty="0">
              <a:solidFill>
                <a:srgbClr val="3D3D3D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en-US" sz="1400" b="0" i="1" dirty="0">
                <a:solidFill>
                  <a:srgbClr val="666666"/>
                </a:solidFill>
                <a:latin typeface="Calibri"/>
              </a:rPr>
              <a:t>Patan Multiple Campus  ·  </a:t>
            </a:r>
            <a:r>
              <a:rPr sz="1400" b="0" i="1" dirty="0">
                <a:solidFill>
                  <a:srgbClr val="666666"/>
                </a:solidFill>
                <a:latin typeface="Calibri"/>
              </a:rPr>
              <a:t>Tribhuvan University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6492240"/>
            <a:ext cx="10881360" cy="0"/>
          </a:xfrm>
          <a:prstGeom prst="line">
            <a:avLst/>
          </a:prstGeom>
          <a:ln w="12700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22222"/>
                </a:solidFill>
                <a:latin typeface="Calibri"/>
              </a:rPr>
              <a:t>The Problem and the Goal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81360" cy="0"/>
          </a:xfrm>
          <a:prstGeom prst="line">
            <a:avLst/>
          </a:prstGeom>
          <a:ln w="1587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247120" y="6455664"/>
            <a:ext cx="822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09090"/>
                </a:solidFill>
                <a:latin typeface="Calibri"/>
              </a:rPr>
              <a:t>2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5440680" cy="4754880"/>
          </a:xfrm>
          <a:prstGeom prst="rect">
            <a:avLst/>
          </a:prstGeom>
          <a:solidFill>
            <a:srgbClr val="F2F2F2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892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THE PROBLEM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2020824"/>
            <a:ext cx="4892040" cy="0"/>
          </a:xfrm>
          <a:prstGeom prst="line">
            <a:avLst/>
          </a:prstGeom>
          <a:ln w="952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228600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50" b="1">
                <a:solidFill>
                  <a:srgbClr val="666666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3D3D3D"/>
                </a:solidFill>
                <a:latin typeface="Calibri"/>
              </a:rPr>
              <a:t>AI tools can now make videos that look completely real.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50" b="1">
                <a:solidFill>
                  <a:srgbClr val="666666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3D3D3D"/>
                </a:solidFill>
                <a:latin typeface="Calibri"/>
              </a:rPr>
              <a:t>YouTube is full of AI-made shorts, often with no warning label.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50" b="1">
                <a:solidFill>
                  <a:srgbClr val="666666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3D3D3D"/>
                </a:solidFill>
                <a:latin typeface="Calibri"/>
              </a:rPr>
              <a:t>Viewers cannot easily tell what is real and what is fake.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50" b="1">
                <a:solidFill>
                  <a:srgbClr val="666666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3D3D3D"/>
                </a:solidFill>
                <a:latin typeface="Calibri"/>
              </a:rPr>
              <a:t>Existing tools either need the internet (privacy risk) or are often wrong.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63040"/>
            <a:ext cx="544068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691640"/>
            <a:ext cx="4892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THE GOAL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37960" y="2020824"/>
            <a:ext cx="4892040" cy="0"/>
          </a:xfrm>
          <a:prstGeom prst="line">
            <a:avLst/>
          </a:prstGeom>
          <a:ln w="952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37960" y="2286000"/>
            <a:ext cx="4892040" cy="3657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50" b="1">
                <a:solidFill>
                  <a:srgbClr val="666666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3D3D3D"/>
                </a:solidFill>
                <a:latin typeface="Calibri"/>
              </a:rPr>
              <a:t>Build a browser add-on that warns viewers about AI shorts.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50" b="1">
                <a:solidFill>
                  <a:srgbClr val="666666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3D3D3D"/>
                </a:solidFill>
                <a:latin typeface="Calibri"/>
              </a:rPr>
              <a:t>Works in real time while a video plays.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50" b="1">
                <a:solidFill>
                  <a:srgbClr val="666666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3D3D3D"/>
                </a:solidFill>
                <a:latin typeface="Calibri"/>
              </a:rPr>
              <a:t>Runs on your own computer — videos stay private.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50" b="1">
                <a:solidFill>
                  <a:srgbClr val="666666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3D3D3D"/>
                </a:solidFill>
                <a:latin typeface="Calibri"/>
              </a:rPr>
              <a:t>Shows a clear reason when a video is flagged.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22222"/>
                </a:solidFill>
                <a:latin typeface="Calibri"/>
              </a:rPr>
              <a:t>System Overview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81360" cy="0"/>
          </a:xfrm>
          <a:prstGeom prst="line">
            <a:avLst/>
          </a:prstGeom>
          <a:ln w="1587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247120" y="6455664"/>
            <a:ext cx="822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09090"/>
                </a:solidFill>
                <a:latin typeface="Calibri"/>
              </a:rPr>
              <a:t>3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1">
                <a:solidFill>
                  <a:srgbClr val="666666"/>
                </a:solidFill>
                <a:latin typeface="Calibri"/>
              </a:rPr>
              <a:t>Two parts that talk to each other on your own computer: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11680"/>
            <a:ext cx="3200400" cy="2651760"/>
          </a:xfrm>
          <a:prstGeom prst="rect">
            <a:avLst/>
          </a:prstGeom>
          <a:solidFill>
            <a:srgbClr val="F2F2F2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194560"/>
            <a:ext cx="3200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22222"/>
                </a:solidFill>
                <a:latin typeface="Calibri"/>
              </a:rPr>
              <a:t>Browser Extension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80160" y="2697480"/>
            <a:ext cx="2286000" cy="0"/>
          </a:xfrm>
          <a:prstGeom prst="line">
            <a:avLst/>
          </a:prstGeom>
          <a:ln w="12700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97280" y="2880360"/>
            <a:ext cx="269748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66666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3D3D3D"/>
                </a:solidFill>
                <a:latin typeface="Calibri"/>
              </a:rPr>
              <a:t>Watches the playing video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66666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3D3D3D"/>
                </a:solidFill>
                <a:latin typeface="Calibri"/>
              </a:rPr>
              <a:t>Captures a few frames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66666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3D3D3D"/>
                </a:solidFill>
                <a:latin typeface="Calibri"/>
              </a:rPr>
              <a:t>Collects the video's title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98848" y="2011680"/>
            <a:ext cx="3200400" cy="2651760"/>
          </a:xfrm>
          <a:prstGeom prst="rect">
            <a:avLst/>
          </a:prstGeom>
          <a:solidFill>
            <a:srgbClr val="F2F2F2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98848" y="2194560"/>
            <a:ext cx="3200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22222"/>
                </a:solidFill>
                <a:latin typeface="Calibri"/>
              </a:rPr>
              <a:t>Local Program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56048" y="2697480"/>
            <a:ext cx="2286000" cy="0"/>
          </a:xfrm>
          <a:prstGeom prst="line">
            <a:avLst/>
          </a:prstGeom>
          <a:ln w="12700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773168" y="2880360"/>
            <a:ext cx="269748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66666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3D3D3D"/>
                </a:solidFill>
                <a:latin typeface="Calibri"/>
              </a:rPr>
              <a:t>Checks the frames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66666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3D3D3D"/>
                </a:solidFill>
                <a:latin typeface="Calibri"/>
              </a:rPr>
              <a:t>Uses an AI model + image checks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66666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3D3D3D"/>
                </a:solidFill>
                <a:latin typeface="Calibri"/>
              </a:rPr>
              <a:t>Turns them into one score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74736" y="2011680"/>
            <a:ext cx="3200400" cy="2651760"/>
          </a:xfrm>
          <a:prstGeom prst="rect">
            <a:avLst/>
          </a:prstGeom>
          <a:solidFill>
            <a:srgbClr val="F2F2F2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174736" y="2194560"/>
            <a:ext cx="32004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22222"/>
                </a:solidFill>
                <a:latin typeface="Calibri"/>
              </a:rPr>
              <a:t>Result Shown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631936" y="2697480"/>
            <a:ext cx="2286000" cy="0"/>
          </a:xfrm>
          <a:prstGeom prst="line">
            <a:avLst/>
          </a:prstGeom>
          <a:ln w="12700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49056" y="2880360"/>
            <a:ext cx="2697480" cy="1645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66666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3D3D3D"/>
                </a:solidFill>
                <a:latin typeface="Calibri"/>
              </a:rPr>
              <a:t>A label around the video: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66666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3D3D3D"/>
                </a:solidFill>
                <a:latin typeface="Calibri"/>
              </a:rPr>
              <a:t>Low / Suspicious / Likely AI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666666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3D3D3D"/>
                </a:solidFill>
                <a:latin typeface="Calibri"/>
              </a:rPr>
              <a:t>Plus a short reason why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3360" y="310896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22222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9248" y="3108960"/>
            <a:ext cx="457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22222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5029200"/>
            <a:ext cx="10927080" cy="868680"/>
          </a:xfrm>
          <a:prstGeom prst="rect">
            <a:avLst/>
          </a:prstGeom>
          <a:solidFill>
            <a:srgbClr val="E7E7E7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212080"/>
            <a:ext cx="10424160" cy="47548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 dirty="0">
                <a:solidFill>
                  <a:srgbClr val="222222"/>
                </a:solidFill>
                <a:latin typeface="Calibri"/>
              </a:rPr>
              <a:t>Private by design:  </a:t>
            </a:r>
            <a:r>
              <a:rPr sz="1450" b="0" i="0" dirty="0">
                <a:solidFill>
                  <a:srgbClr val="3D3D3D"/>
                </a:solidFill>
                <a:latin typeface="Calibri"/>
              </a:rPr>
              <a:t>the extension and the checking program both run on your computer. The video frames are never uploaded anywhere. The models download only once, the first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22222"/>
                </a:solidFill>
                <a:latin typeface="Calibri"/>
              </a:rPr>
              <a:t>How It Works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81360" cy="0"/>
          </a:xfrm>
          <a:prstGeom prst="line">
            <a:avLst/>
          </a:prstGeom>
          <a:ln w="1587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247120" y="6455664"/>
            <a:ext cx="822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09090"/>
                </a:solidFill>
                <a:latin typeface="Calibri"/>
              </a:rPr>
              <a:t>4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502920" cy="502920"/>
          </a:xfrm>
          <a:prstGeom prst="rect">
            <a:avLst/>
          </a:prstGeom>
          <a:solidFill>
            <a:srgbClr val="222222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353312"/>
            <a:ext cx="3840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22222"/>
                </a:solidFill>
                <a:latin typeface="Calibri"/>
              </a:rPr>
              <a:t>Capture frames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64592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66666"/>
                </a:solidFill>
                <a:latin typeface="Calibri"/>
              </a:rPr>
              <a:t>The extension grabs 8 still frames from the video as it plays.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71600" y="1965960"/>
            <a:ext cx="10058400" cy="0"/>
          </a:xfrm>
          <a:prstGeom prst="line">
            <a:avLst/>
          </a:prstGeom>
          <a:ln w="6350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640080" y="2011680"/>
            <a:ext cx="502920" cy="502920"/>
          </a:xfrm>
          <a:prstGeom prst="rect">
            <a:avLst/>
          </a:prstGeom>
          <a:solidFill>
            <a:srgbClr val="222222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01168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993392"/>
            <a:ext cx="3840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22222"/>
                </a:solidFill>
                <a:latin typeface="Calibri"/>
              </a:rPr>
              <a:t>Check the frames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8600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66666"/>
                </a:solidFill>
                <a:latin typeface="Calibri"/>
              </a:rPr>
              <a:t>An AI model and simple image checks each look at the frames.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371600" y="2606040"/>
            <a:ext cx="10058400" cy="0"/>
          </a:xfrm>
          <a:prstGeom prst="line">
            <a:avLst/>
          </a:prstGeom>
          <a:ln w="6350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40080" y="2651760"/>
            <a:ext cx="502920" cy="502920"/>
          </a:xfrm>
          <a:prstGeom prst="rect">
            <a:avLst/>
          </a:prstGeom>
          <a:solidFill>
            <a:srgbClr val="222222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65176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2633472"/>
            <a:ext cx="3840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22222"/>
                </a:solidFill>
                <a:latin typeface="Calibri"/>
              </a:rPr>
              <a:t>Turn into numbers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292608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66666"/>
                </a:solidFill>
                <a:latin typeface="Calibri"/>
              </a:rPr>
              <a:t>Every check produces a number that measures how "AI-like" the frame is.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371600" y="3246120"/>
            <a:ext cx="10058400" cy="0"/>
          </a:xfrm>
          <a:prstGeom prst="line">
            <a:avLst/>
          </a:prstGeom>
          <a:ln w="6350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640080" y="3291840"/>
            <a:ext cx="502920" cy="502920"/>
          </a:xfrm>
          <a:prstGeom prst="rect">
            <a:avLst/>
          </a:prstGeom>
          <a:solidFill>
            <a:srgbClr val="222222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329184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3273552"/>
            <a:ext cx="3840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22222"/>
                </a:solidFill>
                <a:latin typeface="Calibri"/>
              </a:rPr>
              <a:t>Combine into one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56616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66666"/>
                </a:solidFill>
                <a:latin typeface="Calibri"/>
              </a:rPr>
              <a:t>All the numbers are joined into a single AI score from 0 to 1.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371600" y="3886200"/>
            <a:ext cx="10058400" cy="0"/>
          </a:xfrm>
          <a:prstGeom prst="line">
            <a:avLst/>
          </a:prstGeom>
          <a:ln w="6350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40080" y="3931920"/>
            <a:ext cx="502920" cy="502920"/>
          </a:xfrm>
          <a:prstGeom prst="rect">
            <a:avLst/>
          </a:prstGeom>
          <a:solidFill>
            <a:srgbClr val="222222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3931920"/>
            <a:ext cx="50292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3913632"/>
            <a:ext cx="3840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22222"/>
                </a:solidFill>
                <a:latin typeface="Calibri"/>
              </a:rPr>
              <a:t>Show a label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206240"/>
            <a:ext cx="10058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666666"/>
                </a:solidFill>
                <a:latin typeface="Calibri"/>
              </a:rPr>
              <a:t>The score becomes a clear label shown around the video.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89204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The three labels: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5257800"/>
            <a:ext cx="3474720" cy="640080"/>
          </a:xfrm>
          <a:prstGeom prst="rect">
            <a:avLst/>
          </a:prstGeom>
          <a:solidFill>
            <a:srgbClr val="F2F2F2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" y="5257800"/>
            <a:ext cx="146304" cy="640080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30352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222222"/>
                </a:solidFill>
                <a:latin typeface="Calibri"/>
              </a:rPr>
              <a:t>Low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596128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66666"/>
                </a:solidFill>
                <a:latin typeface="Calibri"/>
              </a:rPr>
              <a:t>score below 0.46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70832" y="5257800"/>
            <a:ext cx="3474720" cy="640080"/>
          </a:xfrm>
          <a:prstGeom prst="rect">
            <a:avLst/>
          </a:prstGeom>
          <a:solidFill>
            <a:srgbClr val="F2F2F2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370832" y="5257800"/>
            <a:ext cx="146304" cy="640080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45152" y="530352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222222"/>
                </a:solidFill>
                <a:latin typeface="Calibri"/>
              </a:rPr>
              <a:t>Suspicious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45152" y="5596128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66666"/>
                </a:solidFill>
                <a:latin typeface="Calibri"/>
              </a:rPr>
              <a:t>0.46 to 0.65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01583" y="5257800"/>
            <a:ext cx="3474720" cy="640080"/>
          </a:xfrm>
          <a:prstGeom prst="rect">
            <a:avLst/>
          </a:prstGeom>
          <a:solidFill>
            <a:srgbClr val="F2F2F2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101583" y="5257800"/>
            <a:ext cx="146304" cy="640080"/>
          </a:xfrm>
          <a:prstGeom prst="rect">
            <a:avLst/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75903" y="530352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222222"/>
                </a:solidFill>
                <a:latin typeface="Calibri"/>
              </a:rPr>
              <a:t>Likely AI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75903" y="5596128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66666"/>
                </a:solidFill>
                <a:latin typeface="Calibri"/>
              </a:rPr>
              <a:t>0.65 and above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22222"/>
                </a:solidFill>
                <a:latin typeface="Calibri"/>
              </a:rPr>
              <a:t>The AI Image Detector  (Vision Transformer)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81360" cy="0"/>
          </a:xfrm>
          <a:prstGeom prst="line">
            <a:avLst/>
          </a:prstGeom>
          <a:ln w="1587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247120" y="6455664"/>
            <a:ext cx="822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09090"/>
                </a:solidFill>
                <a:latin typeface="Calibri"/>
              </a:rPr>
              <a:t>5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0927080" cy="1188720"/>
          </a:xfrm>
          <a:prstGeom prst="rect">
            <a:avLst/>
          </a:prstGeom>
          <a:solidFill>
            <a:srgbClr val="F2F2F2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104241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2222"/>
                </a:solidFill>
                <a:latin typeface="Calibri"/>
              </a:rPr>
              <a:t>What it is:  </a:t>
            </a:r>
            <a:r>
              <a:rPr sz="1500" b="0" i="0">
                <a:solidFill>
                  <a:srgbClr val="3D3D3D"/>
                </a:solidFill>
                <a:latin typeface="Calibri"/>
              </a:rPr>
              <a:t>a deep neural network called a Vision Transformer. It cuts an image into small 14×14 patches and reads them like words in a sentence, so it learns the visual “style” of AI-made images. Our detector joins two such models — SigLIP2 + DINOv2 — and is the strongest single signal we use. (Pre-trained via transfer learning; I run it, I did not train it.)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5669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HOW IT WORKS   (pseudocode)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3209544"/>
            <a:ext cx="5669280" cy="0"/>
          </a:xfrm>
          <a:prstGeom prst="line">
            <a:avLst/>
          </a:prstGeom>
          <a:ln w="952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40080" y="3310128"/>
            <a:ext cx="5669280" cy="2907792"/>
          </a:xfrm>
          <a:prstGeom prst="rect">
            <a:avLst/>
          </a:prstGeom>
          <a:solidFill>
            <a:srgbClr val="222222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3474720"/>
            <a:ext cx="5166360" cy="2651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7E7E7"/>
                </a:solidFill>
                <a:latin typeface="Consolas"/>
              </a:rPr>
              <a:t> </a:t>
            </a:r>
            <a:r>
              <a:rPr sz="1150" b="0" i="0">
                <a:solidFill>
                  <a:srgbClr val="909090"/>
                </a:solidFill>
                <a:latin typeface="Consolas"/>
              </a:rPr>
              <a:t># 1. Cut the image into 14x14 pixel patches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7E7E7"/>
                </a:solidFill>
                <a:latin typeface="Consolas"/>
              </a:rPr>
              <a:t>patches = split_into_patches(image, 14)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7E7E7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7E7E7"/>
                </a:solidFill>
                <a:latin typeface="Consolas"/>
              </a:rPr>
              <a:t> </a:t>
            </a:r>
            <a:r>
              <a:rPr sz="1150" b="0" i="0">
                <a:solidFill>
                  <a:srgbClr val="909090"/>
                </a:solidFill>
                <a:latin typeface="Consolas"/>
              </a:rPr>
              <a:t># 2. Two Vision Transformers read the patches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7E7E7"/>
                </a:solidFill>
                <a:latin typeface="Consolas"/>
              </a:rPr>
              <a:t>a = SigLIP2(patches)        </a:t>
            </a:r>
            <a:r>
              <a:rPr sz="1150" b="0" i="0">
                <a:solidFill>
                  <a:srgbClr val="909090"/>
                </a:solidFill>
                <a:latin typeface="Consolas"/>
              </a:rPr>
              <a:t># what the scene shows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7E7E7"/>
                </a:solidFill>
                <a:latin typeface="Consolas"/>
              </a:rPr>
              <a:t>b = DINOv2(patches)         </a:t>
            </a:r>
            <a:r>
              <a:rPr sz="1150" b="0" i="0">
                <a:solidFill>
                  <a:srgbClr val="909090"/>
                </a:solidFill>
                <a:latin typeface="Consolas"/>
              </a:rPr>
              <a:t># fine texture / detail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7E7E7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7E7E7"/>
                </a:solidFill>
                <a:latin typeface="Consolas"/>
              </a:rPr>
              <a:t> </a:t>
            </a:r>
            <a:r>
              <a:rPr sz="1150" b="0" i="0">
                <a:solidFill>
                  <a:srgbClr val="909090"/>
                </a:solidFill>
                <a:latin typeface="Consolas"/>
              </a:rPr>
              <a:t># 3. Join the two views, then classify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7E7E7"/>
                </a:solidFill>
                <a:latin typeface="Consolas"/>
              </a:rPr>
              <a:t>combined = concat(a, b)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7E7E7"/>
                </a:solidFill>
                <a:latin typeface="Consolas"/>
              </a:rPr>
              <a:t>logit = classifier(combined)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7E7E7"/>
                </a:solidFill>
                <a:latin typeface="Consolas"/>
              </a:rPr>
              <a:t>ai_chance = sigmoid(logit)  </a:t>
            </a:r>
            <a:r>
              <a:rPr sz="1150" b="0" i="0">
                <a:solidFill>
                  <a:srgbClr val="909090"/>
                </a:solidFill>
                <a:latin typeface="Consolas"/>
              </a:rPr>
              <a:t># -&gt; between 0 and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88036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KEY IDEAS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37960" y="3209544"/>
            <a:ext cx="5029200" cy="0"/>
          </a:xfrm>
          <a:prstGeom prst="line">
            <a:avLst/>
          </a:prstGeom>
          <a:ln w="952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37960" y="3383280"/>
            <a:ext cx="5029200" cy="1783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666666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3D3D3D"/>
                </a:solidFill>
                <a:latin typeface="Calibri"/>
              </a:rPr>
              <a:t>Image split into 14×14 patches, read like words.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666666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3D3D3D"/>
                </a:solidFill>
                <a:latin typeface="Calibri"/>
              </a:rPr>
              <a:t>Two ViTs, trained differently, catch different fakes.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666666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3D3D3D"/>
                </a:solidFill>
                <a:latin typeface="Calibri"/>
              </a:rPr>
              <a:t>SigLIP2 = scene meaning;  DINOv2 = fine texture.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666666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3D3D3D"/>
                </a:solidFill>
                <a:latin typeface="Calibri"/>
              </a:rPr>
              <a:t>Sigmoid turns the output into a 0–1 chance.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507492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THE OUTPUT FORMULA  (sigmoid)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37960" y="5404104"/>
            <a:ext cx="5029200" cy="0"/>
          </a:xfrm>
          <a:prstGeom prst="line">
            <a:avLst/>
          </a:prstGeom>
          <a:ln w="952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537960" y="5504688"/>
            <a:ext cx="5029200" cy="548640"/>
          </a:xfrm>
          <a:prstGeom prst="rect">
            <a:avLst/>
          </a:prstGeom>
          <a:solidFill>
            <a:srgbClr val="F2F2F2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5504688"/>
            <a:ext cx="50292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 dirty="0">
                <a:solidFill>
                  <a:srgbClr val="222222"/>
                </a:solidFill>
                <a:latin typeface="Consolas"/>
              </a:rPr>
              <a:t>sigmoid(x)  =  1 / ( 1 + e^(−x) 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6089904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66666"/>
                </a:solidFill>
                <a:latin typeface="Calibri"/>
              </a:rPr>
              <a:t>turns any number into a probability between 0 and 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22222"/>
                </a:solidFill>
                <a:latin typeface="Calibri"/>
              </a:rPr>
              <a:t>The Algorithm: Random Forest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81360" cy="0"/>
          </a:xfrm>
          <a:prstGeom prst="line">
            <a:avLst/>
          </a:prstGeom>
          <a:ln w="1587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247120" y="6455664"/>
            <a:ext cx="822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09090"/>
                </a:solidFill>
                <a:latin typeface="Calibri"/>
              </a:rPr>
              <a:t>6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0927080" cy="1188720"/>
          </a:xfrm>
          <a:prstGeom prst="rect">
            <a:avLst/>
          </a:prstGeom>
          <a:solidFill>
            <a:srgbClr val="F2F2F2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27632"/>
            <a:ext cx="104241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222222"/>
                </a:solidFill>
                <a:latin typeface="Calibri"/>
              </a:rPr>
              <a:t>What it is:  </a:t>
            </a:r>
            <a:r>
              <a:rPr sz="1550" b="0" i="0">
                <a:solidFill>
                  <a:srgbClr val="3D3D3D"/>
                </a:solidFill>
                <a:latin typeface="Calibri"/>
              </a:rPr>
              <a:t>Random Forest is an ensemble (group) of many decision trees. Each tree is trained on a random sample of the data and casts one vote; the forest's answer is the majority vote. It is one of the most widely used and trusted machine-learning methods, and easy to explain.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56692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HOW IT WORKS   (pseudocode)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3209544"/>
            <a:ext cx="5669280" cy="0"/>
          </a:xfrm>
          <a:prstGeom prst="line">
            <a:avLst/>
          </a:prstGeom>
          <a:ln w="952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640080" y="3310128"/>
            <a:ext cx="5669280" cy="2907792"/>
          </a:xfrm>
          <a:prstGeom prst="rect">
            <a:avLst/>
          </a:prstGeom>
          <a:solidFill>
            <a:srgbClr val="222222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3474720"/>
            <a:ext cx="5166360" cy="2651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7E7E7"/>
                </a:solidFill>
                <a:latin typeface="Consolas"/>
              </a:rPr>
              <a:t> </a:t>
            </a:r>
            <a:r>
              <a:rPr sz="1150" b="0" i="0">
                <a:solidFill>
                  <a:srgbClr val="909090"/>
                </a:solidFill>
                <a:latin typeface="Consolas"/>
              </a:rPr>
              <a:t># 1. Build 400 independent decision trees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7E7E7"/>
                </a:solidFill>
                <a:latin typeface="Consolas"/>
              </a:rPr>
              <a:t>forest = []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7E7E7"/>
                </a:solidFill>
                <a:latin typeface="Consolas"/>
              </a:rPr>
              <a:t>for i in range(400):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7E7E7"/>
                </a:solidFill>
                <a:latin typeface="Consolas"/>
              </a:rPr>
              <a:t>    sample = random_subset(data)   </a:t>
            </a:r>
            <a:r>
              <a:rPr sz="1150" b="0" i="0">
                <a:solidFill>
                  <a:srgbClr val="909090"/>
                </a:solidFill>
                <a:latin typeface="Consolas"/>
              </a:rPr>
              <a:t># each tree sees different data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7E7E7"/>
                </a:solidFill>
                <a:latin typeface="Consolas"/>
              </a:rPr>
              <a:t>    tree   = build_tree(sample)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7E7E7"/>
                </a:solidFill>
                <a:latin typeface="Consolas"/>
              </a:rPr>
              <a:t>    forest.append(tree)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7E7E7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7E7E7"/>
                </a:solidFill>
                <a:latin typeface="Consolas"/>
              </a:rPr>
              <a:t> </a:t>
            </a:r>
            <a:r>
              <a:rPr sz="1150" b="0" i="0">
                <a:solidFill>
                  <a:srgbClr val="909090"/>
                </a:solidFill>
                <a:latin typeface="Consolas"/>
              </a:rPr>
              <a:t># 2. Predict one new video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7E7E7"/>
                </a:solidFill>
                <a:latin typeface="Consolas"/>
              </a:rPr>
              <a:t>votes = [t.predict(x) for t in forest]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7E7E7"/>
                </a:solidFill>
                <a:latin typeface="Consolas"/>
              </a:rPr>
              <a:t>score = sum(votes) / 400           </a:t>
            </a:r>
            <a:r>
              <a:rPr sz="1150" b="0" i="0">
                <a:solidFill>
                  <a:srgbClr val="909090"/>
                </a:solidFill>
                <a:latin typeface="Consolas"/>
              </a:rPr>
              <a:t># each tree casts one vote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7E7E7"/>
                </a:solidFill>
                <a:latin typeface="Consolas"/>
              </a:rPr>
              <a:t> 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7E7E7"/>
                </a:solidFill>
                <a:latin typeface="Consolas"/>
              </a:rPr>
              <a:t> </a:t>
            </a:r>
            <a:r>
              <a:rPr sz="1150" b="0" i="0">
                <a:solidFill>
                  <a:srgbClr val="909090"/>
                </a:solidFill>
                <a:latin typeface="Consolas"/>
              </a:rPr>
              <a:t># 3. Blend with the hand rules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E7E7E7"/>
                </a:solidFill>
                <a:latin typeface="Consolas"/>
              </a:rPr>
              <a:t>final = 0.30 * manual + 0.70 *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88036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WHY THIS METHOD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37960" y="3209544"/>
            <a:ext cx="5029200" cy="0"/>
          </a:xfrm>
          <a:prstGeom prst="line">
            <a:avLst/>
          </a:prstGeom>
          <a:ln w="952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537960" y="3383280"/>
            <a:ext cx="5029200" cy="1783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666666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3D3D3D"/>
                </a:solidFill>
                <a:latin typeface="Calibri"/>
              </a:rPr>
              <a:t>Works well on small data (1,521 videos).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666666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3D3D3D"/>
                </a:solidFill>
                <a:latin typeface="Calibri"/>
              </a:rPr>
              <a:t>Many trees average out errors — resists overfitting.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666666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3D3D3D"/>
                </a:solidFill>
                <a:latin typeface="Calibri"/>
              </a:rPr>
              <a:t>Shows which checks matter most (feature importance).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1">
                <a:solidFill>
                  <a:srgbClr val="666666"/>
                </a:solidFill>
                <a:latin typeface="Calibri"/>
              </a:rPr>
              <a:t>•  </a:t>
            </a:r>
            <a:r>
              <a:rPr sz="1450" b="0" i="0">
                <a:solidFill>
                  <a:srgbClr val="3D3D3D"/>
                </a:solidFill>
                <a:latin typeface="Calibri"/>
              </a:rPr>
              <a:t>Fast to train and to run on a home computer.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507492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THE SPLIT RULE  (Gini impurity)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537960" y="5404104"/>
            <a:ext cx="5029200" cy="0"/>
          </a:xfrm>
          <a:prstGeom prst="line">
            <a:avLst/>
          </a:prstGeom>
          <a:ln w="952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6537960" y="5504688"/>
            <a:ext cx="5029200" cy="548640"/>
          </a:xfrm>
          <a:prstGeom prst="rect">
            <a:avLst/>
          </a:prstGeom>
          <a:solidFill>
            <a:srgbClr val="F2F2F2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537960" y="5504688"/>
            <a:ext cx="5029200" cy="5486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22222"/>
                </a:solidFill>
                <a:latin typeface="Consolas"/>
              </a:rPr>
              <a:t>Gini  =  1  −  ( p₀² + p₁² 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6089904"/>
            <a:ext cx="5029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666666"/>
                </a:solidFill>
                <a:latin typeface="Calibri"/>
              </a:rPr>
              <a:t>pᵢ = share of class i in a node.   Lower Gini = a cleaner split.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22222"/>
                </a:solidFill>
                <a:latin typeface="Calibri"/>
              </a:rPr>
              <a:t>Combining Everything  (the main idea)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81360" cy="0"/>
          </a:xfrm>
          <a:prstGeom prst="line">
            <a:avLst/>
          </a:prstGeom>
          <a:ln w="1587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247120" y="6455664"/>
            <a:ext cx="822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09090"/>
                </a:solidFill>
                <a:latin typeface="Calibri"/>
              </a:rPr>
              <a:t>7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0927080" cy="1188720"/>
          </a:xfrm>
          <a:prstGeom prst="rect">
            <a:avLst/>
          </a:prstGeom>
          <a:solidFill>
            <a:srgbClr val="E7E7E7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72768"/>
            <a:ext cx="104241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222222"/>
                </a:solidFill>
                <a:latin typeface="Calibri"/>
              </a:rPr>
              <a:t>The key point:  </a:t>
            </a:r>
            <a:r>
              <a:rPr sz="1600" b="0" i="0">
                <a:solidFill>
                  <a:srgbClr val="3D3D3D"/>
                </a:solidFill>
                <a:latin typeface="Calibri"/>
              </a:rPr>
              <a:t>no single check can reliably spot AI video on its own. So the project combines many weak checks into one reliable score. This is the main contribution.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10881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HOW THE CHECKS ARE COMBINED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3209544"/>
            <a:ext cx="10881360" cy="0"/>
          </a:xfrm>
          <a:prstGeom prst="line">
            <a:avLst/>
          </a:prstGeom>
          <a:ln w="952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40080" y="3474720"/>
            <a:ext cx="10881360" cy="20116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50" b="1">
                <a:solidFill>
                  <a:srgbClr val="666666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3D3D3D"/>
                </a:solidFill>
                <a:latin typeface="Calibri"/>
              </a:rPr>
              <a:t>All checks become a list of about 17 numbers per video.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50" b="1">
                <a:solidFill>
                  <a:srgbClr val="666666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3D3D3D"/>
                </a:solidFill>
                <a:latin typeface="Calibri"/>
              </a:rPr>
              <a:t>A Random Forest (many simple decision trees) takes these numbers and votes on a final answer.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50" b="1">
                <a:solidFill>
                  <a:srgbClr val="666666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3D3D3D"/>
                </a:solidFill>
                <a:latin typeface="Calibri"/>
              </a:rPr>
              <a:t>Each check adds its own vote; the result is one AI score.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50" b="1">
                <a:solidFill>
                  <a:srgbClr val="666666"/>
                </a:solidFill>
                <a:latin typeface="Calibri"/>
              </a:rPr>
              <a:t>•  </a:t>
            </a:r>
            <a:r>
              <a:rPr sz="1550" b="0" i="0">
                <a:solidFill>
                  <a:srgbClr val="3D3D3D"/>
                </a:solidFill>
                <a:latin typeface="Calibri"/>
              </a:rPr>
              <a:t>The AI model's result carries the most weight, but the other checks confirm or correct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5623560"/>
            <a:ext cx="10927080" cy="777240"/>
          </a:xfrm>
          <a:prstGeom prst="rect">
            <a:avLst/>
          </a:prstGeom>
          <a:solidFill>
            <a:srgbClr val="222222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5623560"/>
            <a:ext cx="1092708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FFFFFF"/>
                </a:solidFill>
                <a:latin typeface="Calibri"/>
              </a:rPr>
              <a:t>Result: combining the checks lifts accuracy from about 50% (the AI model alone) to 89%.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22222"/>
                </a:solidFill>
                <a:latin typeface="Calibri"/>
              </a:rPr>
              <a:t>The Data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81360" cy="0"/>
          </a:xfrm>
          <a:prstGeom prst="line">
            <a:avLst/>
          </a:prstGeom>
          <a:ln w="1587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247120" y="6455664"/>
            <a:ext cx="822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09090"/>
                </a:solidFill>
                <a:latin typeface="Calibri"/>
              </a:rPr>
              <a:t>8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0" i="0">
                <a:solidFill>
                  <a:srgbClr val="3D3D3D"/>
                </a:solidFill>
                <a:latin typeface="Calibri"/>
              </a:rPr>
              <a:t>1,521 YouTube Shorts were collected and sorted into three groups: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22222"/>
                </a:solidFill>
                <a:latin typeface="Calibri"/>
              </a:rPr>
              <a:t>Real videos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32304"/>
            <a:ext cx="2011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666666"/>
                </a:solidFill>
                <a:latin typeface="Calibri"/>
              </a:rPr>
              <a:t>normal, human-made content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0" y="2148840"/>
            <a:ext cx="6400800" cy="365760"/>
          </a:xfrm>
          <a:prstGeom prst="rect">
            <a:avLst/>
          </a:prstGeom>
          <a:solidFill>
            <a:srgbClr val="F2F2F2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0" y="2148840"/>
            <a:ext cx="6150234" cy="365760"/>
          </a:xfrm>
          <a:prstGeom prst="rect">
            <a:avLst/>
          </a:prstGeom>
          <a:solidFill>
            <a:srgbClr val="CFCF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84874" y="2121408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22222"/>
                </a:solidFill>
                <a:latin typeface="Calibri"/>
              </a:rPr>
              <a:t>540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46120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22222"/>
                </a:solidFill>
                <a:latin typeface="Calibri"/>
              </a:rPr>
              <a:t>Edited videos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75304"/>
            <a:ext cx="2011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666666"/>
                </a:solidFill>
                <a:latin typeface="Calibri"/>
              </a:rPr>
              <a:t>heavily edited or CGI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3291840"/>
            <a:ext cx="6400800" cy="365760"/>
          </a:xfrm>
          <a:prstGeom prst="rect">
            <a:avLst/>
          </a:prstGeom>
          <a:solidFill>
            <a:srgbClr val="F2F2F2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0" y="3291840"/>
            <a:ext cx="4772126" cy="365760"/>
          </a:xfrm>
          <a:prstGeom prst="rect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06766" y="3264408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22222"/>
                </a:solidFill>
                <a:latin typeface="Calibri"/>
              </a:rPr>
              <a:t>419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89120"/>
            <a:ext cx="2011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22222"/>
                </a:solidFill>
                <a:latin typeface="Calibri"/>
              </a:rPr>
              <a:t>AI-made videos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718304"/>
            <a:ext cx="2011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1">
                <a:solidFill>
                  <a:srgbClr val="666666"/>
                </a:solidFill>
                <a:latin typeface="Calibri"/>
              </a:rPr>
              <a:t>made by AI tools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4434840"/>
            <a:ext cx="6400800" cy="365760"/>
          </a:xfrm>
          <a:prstGeom prst="rect">
            <a:avLst/>
          </a:prstGeom>
          <a:solidFill>
            <a:srgbClr val="F2F2F2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743200" y="4434840"/>
            <a:ext cx="6400800" cy="365760"/>
          </a:xfrm>
          <a:prstGeom prst="rect">
            <a:avLst/>
          </a:prstGeom>
          <a:solidFill>
            <a:srgbClr val="44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0" y="4407408"/>
            <a:ext cx="914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50" b="1" i="0">
                <a:solidFill>
                  <a:srgbClr val="222222"/>
                </a:solidFill>
                <a:latin typeface="Calibri"/>
              </a:rPr>
              <a:t>562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5623560"/>
            <a:ext cx="10927080" cy="777240"/>
          </a:xfrm>
          <a:prstGeom prst="rect">
            <a:avLst/>
          </a:prstGeom>
          <a:solidFill>
            <a:srgbClr val="F2F2F2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5623560"/>
            <a:ext cx="10927080" cy="7772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50" b="0" i="0">
                <a:solidFill>
                  <a:srgbClr val="3D3D3D"/>
                </a:solidFill>
                <a:latin typeface="Calibri"/>
              </a:rPr>
              <a:t>For training, the Real and Edited groups were merged into one "not-AI" group (959 videos) against the AI group (562).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22222"/>
                </a:solidFill>
                <a:latin typeface="Calibri"/>
              </a:rPr>
              <a:t>Training and Testing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81360" cy="0"/>
          </a:xfrm>
          <a:prstGeom prst="line">
            <a:avLst/>
          </a:prstGeom>
          <a:ln w="1587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247120" y="6455664"/>
            <a:ext cx="822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09090"/>
                </a:solidFill>
                <a:latin typeface="Calibri"/>
              </a:rPr>
              <a:t>9 /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53035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HOW THE MODEL WAS TRAINED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746504"/>
            <a:ext cx="5303520" cy="0"/>
          </a:xfrm>
          <a:prstGeom prst="line">
            <a:avLst/>
          </a:prstGeom>
          <a:ln w="952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965960"/>
            <a:ext cx="530352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D3D3D"/>
                </a:solidFill>
                <a:latin typeface="Calibri"/>
              </a:rPr>
              <a:t>The same checks used at runtime were run on every video to build the training data.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D3D3D"/>
                </a:solidFill>
                <a:latin typeface="Calibri"/>
              </a:rPr>
              <a:t>The data was split into 5 parts (cross-validation).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D3D3D"/>
                </a:solidFill>
                <a:latin typeface="Calibri"/>
              </a:rPr>
              <a:t>Each video was tested once on data it had not seen.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D3D3D"/>
                </a:solidFill>
                <a:latin typeface="Calibri"/>
              </a:rPr>
              <a:t>Several model settings were tried to find the best one.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D3D3D"/>
                </a:solidFill>
                <a:latin typeface="Calibri"/>
              </a:rPr>
              <a:t>The bigger "not-AI" group was weighted so it would not bias the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417320"/>
            <a:ext cx="5212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THE FINAL MODEL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355080" y="1746504"/>
            <a:ext cx="5212080" cy="0"/>
          </a:xfrm>
          <a:prstGeom prst="line">
            <a:avLst/>
          </a:prstGeom>
          <a:ln w="952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355080" y="1965960"/>
            <a:ext cx="521208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D3D3D"/>
                </a:solidFill>
                <a:latin typeface="Calibri"/>
              </a:rPr>
              <a:t>A Random Forest with 400 simple decision trees.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D3D3D"/>
                </a:solidFill>
                <a:latin typeface="Calibri"/>
              </a:rPr>
              <a:t>Tree depth kept low to avoid memorizing the data.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D3D3D"/>
                </a:solidFill>
                <a:latin typeface="Calibri"/>
              </a:rPr>
              <a:t>Trained on all the data once the best settings were found.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D3D3D"/>
                </a:solidFill>
                <a:latin typeface="Calibri"/>
              </a:rPr>
              <a:t>Saved as a single file the program loads at startup.</a:t>
            </a:r>
          </a:p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D3D3D"/>
                </a:solidFill>
                <a:latin typeface="Calibri"/>
              </a:rPr>
              <a:t>Final testing done on videos the model had never seen.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22222"/>
                </a:solidFill>
                <a:latin typeface="Calibri"/>
              </a:rPr>
              <a:t>Results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81360" cy="0"/>
          </a:xfrm>
          <a:prstGeom prst="line">
            <a:avLst/>
          </a:prstGeom>
          <a:ln w="1587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247120" y="6455664"/>
            <a:ext cx="822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09090"/>
                </a:solidFill>
                <a:latin typeface="Calibri"/>
              </a:rPr>
              <a:t>10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10927080" cy="1325880"/>
          </a:xfrm>
          <a:prstGeom prst="rect">
            <a:avLst/>
          </a:prstGeom>
          <a:solidFill>
            <a:srgbClr val="222222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2708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89.3%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10927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E7E7E7"/>
                </a:solidFill>
                <a:latin typeface="Calibri"/>
              </a:rPr>
              <a:t>overall accuracy  —  of all 1,521 videos, this many were labeled correctly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927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222222"/>
                </a:solidFill>
                <a:latin typeface="Calibri"/>
              </a:rPr>
              <a:t>The full breakdown   (rows = truth, columns = prediction)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3767328" y="3611880"/>
            <a:ext cx="1554480" cy="502920"/>
          </a:xfrm>
          <a:prstGeom prst="rect">
            <a:avLst/>
          </a:prstGeom>
          <a:solidFill>
            <a:srgbClr val="222222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767328" y="3611880"/>
            <a:ext cx="15544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321808" y="3611880"/>
            <a:ext cx="1554480" cy="502920"/>
          </a:xfrm>
          <a:prstGeom prst="rect">
            <a:avLst/>
          </a:prstGeom>
          <a:solidFill>
            <a:srgbClr val="222222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321808" y="3611880"/>
            <a:ext cx="15544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Not-AI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76288" y="3611880"/>
            <a:ext cx="1554480" cy="502920"/>
          </a:xfrm>
          <a:prstGeom prst="rect">
            <a:avLst/>
          </a:prstGeom>
          <a:solidFill>
            <a:srgbClr val="222222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76288" y="3611880"/>
            <a:ext cx="15544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67328" y="4114800"/>
            <a:ext cx="1554480" cy="502920"/>
          </a:xfrm>
          <a:prstGeom prst="rect">
            <a:avLst/>
          </a:prstGeom>
          <a:solidFill>
            <a:srgbClr val="222222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767328" y="4114800"/>
            <a:ext cx="15544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Not-AI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21808" y="4114800"/>
            <a:ext cx="1554480" cy="502920"/>
          </a:xfrm>
          <a:prstGeom prst="rect">
            <a:avLst/>
          </a:prstGeom>
          <a:solidFill>
            <a:srgbClr val="E7E7E7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321808" y="4114800"/>
            <a:ext cx="15544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22222"/>
                </a:solidFill>
                <a:latin typeface="Calibri"/>
              </a:rPr>
              <a:t>951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76288" y="4114800"/>
            <a:ext cx="15544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76288" y="4114800"/>
            <a:ext cx="15544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767328" y="4617720"/>
            <a:ext cx="1554480" cy="502920"/>
          </a:xfrm>
          <a:prstGeom prst="rect">
            <a:avLst/>
          </a:prstGeom>
          <a:solidFill>
            <a:srgbClr val="222222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67328" y="4617720"/>
            <a:ext cx="15544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21808" y="4617720"/>
            <a:ext cx="155448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321808" y="4617720"/>
            <a:ext cx="15544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0" i="0">
                <a:solidFill>
                  <a:srgbClr val="222222"/>
                </a:solidFill>
                <a:latin typeface="Calibri"/>
              </a:rPr>
              <a:t>154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76288" y="4617720"/>
            <a:ext cx="1554480" cy="502920"/>
          </a:xfrm>
          <a:prstGeom prst="rect">
            <a:avLst/>
          </a:prstGeom>
          <a:solidFill>
            <a:srgbClr val="E7E7E7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76288" y="4617720"/>
            <a:ext cx="1554480" cy="50292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22222"/>
                </a:solidFill>
                <a:latin typeface="Calibri"/>
              </a:rPr>
              <a:t>408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349240"/>
            <a:ext cx="1092708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500"/>
              </a:spcAft>
            </a:pPr>
            <a:r>
              <a:rPr sz="1450" b="0" i="0">
                <a:solidFill>
                  <a:srgbClr val="3D3D3D"/>
                </a:solidFill>
                <a:latin typeface="Calibri"/>
              </a:rPr>
              <a:t>951 real videos and 408 AI videos were labeled correctly; only 8 were wrongly accused.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666666"/>
                </a:solidFill>
                <a:latin typeface="Calibri"/>
              </a:rPr>
              <a:t>It misses about 1 in 4 AI videos (154) — a deliberate choice to avoid wrongly flagging real videos.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22222"/>
                </a:solidFill>
                <a:latin typeface="Calibri"/>
              </a:rPr>
              <a:t>Limits and Future Work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58368" y="1170432"/>
            <a:ext cx="10881360" cy="0"/>
          </a:xfrm>
          <a:prstGeom prst="line">
            <a:avLst/>
          </a:prstGeom>
          <a:ln w="1587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1247120" y="6455664"/>
            <a:ext cx="822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909090"/>
                </a:solidFill>
                <a:latin typeface="Calibri"/>
              </a:rPr>
              <a:t>11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5440680" cy="4754880"/>
          </a:xfrm>
          <a:prstGeom prst="rect">
            <a:avLst/>
          </a:prstGeom>
          <a:solidFill>
            <a:srgbClr val="F2F2F2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892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CURRENT LIMITS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14400" y="2020824"/>
            <a:ext cx="4892040" cy="0"/>
          </a:xfrm>
          <a:prstGeom prst="line">
            <a:avLst/>
          </a:prstGeom>
          <a:ln w="952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14400" y="2286000"/>
            <a:ext cx="4892040" cy="3840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D3D3D"/>
                </a:solidFill>
                <a:latin typeface="Calibri"/>
              </a:rPr>
              <a:t>The same video may score slightly differently each run, because frames are grabbed on a timer.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D3D3D"/>
                </a:solidFill>
                <a:latin typeface="Calibri"/>
              </a:rPr>
              <a:t>Sometimes real videos get flagged; the combined score keeps this low but not zero.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D3D3D"/>
                </a:solidFill>
                <a:latin typeface="Calibri"/>
              </a:rPr>
              <a:t>Only 1,521 videos — newer AI tools may still fool it.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D3D3D"/>
                </a:solidFill>
                <a:latin typeface="Calibri"/>
              </a:rPr>
              <a:t>It partly relies on the video's title, which can be missing or changed.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463040"/>
            <a:ext cx="544068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37960" y="1691640"/>
            <a:ext cx="48920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FUTURE WORK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37960" y="2020824"/>
            <a:ext cx="4892040" cy="0"/>
          </a:xfrm>
          <a:prstGeom prst="line">
            <a:avLst/>
          </a:prstGeom>
          <a:ln w="9525">
            <a:solidFill>
              <a:srgbClr val="CFCFC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537960" y="2286000"/>
            <a:ext cx="4892040" cy="3840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D3D3D"/>
                </a:solidFill>
                <a:latin typeface="Calibri"/>
              </a:rPr>
              <a:t>Grab frames at fixed times so results are stable.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D3D3D"/>
                </a:solidFill>
                <a:latin typeface="Calibri"/>
              </a:rPr>
              <a:t>Collect a larger dataset with newer AI videos.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D3D3D"/>
                </a:solidFill>
                <a:latin typeface="Calibri"/>
              </a:rPr>
              <a:t>Tell apart a separate "suspicious" middle group.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D3D3D"/>
                </a:solidFill>
                <a:latin typeface="Calibri"/>
              </a:rPr>
              <a:t>Support longer videos, not only shorts.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500" b="1">
                <a:solidFill>
                  <a:srgbClr val="66666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3D3D3D"/>
                </a:solidFill>
                <a:latin typeface="Calibri"/>
              </a:rPr>
              <a:t>Test how well it resists deliberate trickery.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40080" y="1280160"/>
            <a:ext cx="1088136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222222"/>
                </a:solidFill>
                <a:latin typeface="Calibri"/>
              </a:rPr>
              <a:t>Conclusion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58368" y="2011680"/>
            <a:ext cx="2743200" cy="0"/>
          </a:xfrm>
          <a:prstGeom prst="line">
            <a:avLst/>
          </a:prstGeom>
          <a:ln w="19050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2423160"/>
            <a:ext cx="10881360" cy="31089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50" b="1">
                <a:solidFill>
                  <a:srgbClr val="666666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3D3D3D"/>
                </a:solidFill>
                <a:latin typeface="Calibri"/>
              </a:rPr>
              <a:t>Monet combines an AI image model with simple image checks to detect AI-made shorts.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50" b="1">
                <a:solidFill>
                  <a:srgbClr val="666666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3D3D3D"/>
                </a:solidFill>
                <a:latin typeface="Calibri"/>
              </a:rPr>
              <a:t>It runs privately on the user's own computer — no video is uploaded.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50" b="1">
                <a:solidFill>
                  <a:srgbClr val="666666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3D3D3D"/>
                </a:solidFill>
                <a:latin typeface="Calibri"/>
              </a:rPr>
              <a:t>The main contribution is the combining step: many weak checks joined into one reliable score.</a:t>
            </a:r>
          </a:p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50" b="1">
                <a:solidFill>
                  <a:srgbClr val="666666"/>
                </a:solidFill>
                <a:latin typeface="Calibri"/>
              </a:rPr>
              <a:t>•  </a:t>
            </a:r>
            <a:r>
              <a:rPr sz="1650" b="0" i="0">
                <a:solidFill>
                  <a:srgbClr val="3D3D3D"/>
                </a:solidFill>
                <a:latin typeface="Calibri"/>
              </a:rPr>
              <a:t>It reaches 89% accuracy with very few false alarms.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70560" y="4846321"/>
            <a:ext cx="10927080" cy="777240"/>
          </a:xfrm>
          <a:prstGeom prst="rect">
            <a:avLst/>
          </a:prstGeom>
          <a:solidFill>
            <a:srgbClr val="222222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5052061"/>
            <a:ext cx="10881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000" b="1" i="0" dirty="0">
                <a:solidFill>
                  <a:schemeClr val="bg1"/>
                </a:solidFill>
                <a:latin typeface="Calibri"/>
              </a:rPr>
              <a:t>Thank you  ·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1528</Words>
  <Application>Microsoft Macintosh PowerPoint</Application>
  <PresentationFormat>Widescreen</PresentationFormat>
  <Paragraphs>179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Bipul Kunwar</cp:lastModifiedBy>
  <cp:revision>2</cp:revision>
  <dcterms:created xsi:type="dcterms:W3CDTF">2013-01-27T09:14:16Z</dcterms:created>
  <dcterms:modified xsi:type="dcterms:W3CDTF">2026-07-23T17:53:18Z</dcterms:modified>
  <cp:category/>
</cp:coreProperties>
</file>