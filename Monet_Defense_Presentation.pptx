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75"/>
    <p:restoredTop sz="94678"/>
  </p:normalViewPr>
  <p:slideViewPr>
    <p:cSldViewPr snapToGrid="0" snapToObjects="1">
      <p:cViewPr varScale="1">
        <p:scale>
          <a:sx n="142" d="100"/>
          <a:sy n="142" d="100"/>
        </p:scale>
        <p:origin x="2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1828800"/>
            <a:ext cx="108813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222222"/>
                </a:solidFill>
                <a:latin typeface="Calibri"/>
              </a:rPr>
              <a:t>Monet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0" i="0">
                <a:solidFill>
                  <a:srgbClr val="3D3D3D"/>
                </a:solidFill>
                <a:latin typeface="Calibri"/>
              </a:rPr>
              <a:t>A Browser Extension that Detects AI-Made YouTube Shorts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3703320"/>
            <a:ext cx="2743200" cy="0"/>
          </a:xfrm>
          <a:prstGeom prst="line">
            <a:avLst/>
          </a:prstGeom>
          <a:ln w="1905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93192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600" dirty="0"/>
              <a:t>Runs locally on your computer to flag AI-generated short videos in real time.</a:t>
            </a:r>
            <a:br>
              <a:rPr lang="en-US" sz="1600" dirty="0"/>
            </a:br>
            <a:r>
              <a:rPr lang="en-US" sz="1600" dirty="0"/>
              <a:t>Your videos never leave your device.</a:t>
            </a:r>
            <a:endParaRPr sz="1600" b="0" i="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00" b="1" i="0" dirty="0">
                <a:solidFill>
                  <a:srgbClr val="3D3D3D"/>
                </a:solidFill>
                <a:latin typeface="Calibri"/>
              </a:rPr>
              <a:t>Presented by:  </a:t>
            </a:r>
            <a:r>
              <a:rPr lang="en-US" sz="1400" b="0" i="0" dirty="0">
                <a:solidFill>
                  <a:srgbClr val="3D3D3D"/>
                </a:solidFill>
                <a:latin typeface="Calibri"/>
              </a:rPr>
              <a:t>Priti Singh Nepali</a:t>
            </a:r>
            <a:endParaRPr sz="1400" b="0" i="0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3D3D3D"/>
                </a:solidFill>
                <a:latin typeface="Calibri"/>
              </a:rPr>
              <a:t>Supervisor:  </a:t>
            </a:r>
            <a:r>
              <a:rPr lang="en-US" sz="1400" b="0" i="0" dirty="0" err="1">
                <a:solidFill>
                  <a:srgbClr val="3D3D3D"/>
                </a:solidFill>
                <a:latin typeface="Calibri"/>
              </a:rPr>
              <a:t>Dadhi</a:t>
            </a:r>
            <a:r>
              <a:rPr lang="en-US" sz="1400" b="0" i="0" dirty="0">
                <a:solidFill>
                  <a:srgbClr val="3D3D3D"/>
                </a:solidFill>
                <a:latin typeface="Calibri"/>
              </a:rPr>
              <a:t> Ram Ghimire</a:t>
            </a:r>
            <a:endParaRPr sz="1400" b="0" i="0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400" b="0" i="1" dirty="0">
                <a:solidFill>
                  <a:srgbClr val="666666"/>
                </a:solidFill>
                <a:latin typeface="Calibri"/>
              </a:rPr>
              <a:t>Patan Multiple Campus  ·  </a:t>
            </a:r>
            <a:r>
              <a:rPr sz="1400" b="0" i="1" dirty="0">
                <a:solidFill>
                  <a:srgbClr val="666666"/>
                </a:solidFill>
                <a:latin typeface="Calibri"/>
              </a:rPr>
              <a:t>Tribhuvan</a:t>
            </a:r>
            <a:r>
              <a:rPr lang="en-US" sz="1400" b="0" i="1" dirty="0">
                <a:solidFill>
                  <a:srgbClr val="666666"/>
                </a:solidFill>
                <a:latin typeface="Calibri"/>
              </a:rPr>
              <a:t> University</a:t>
            </a:r>
            <a:endParaRPr sz="1400" b="0" i="1" dirty="0">
              <a:solidFill>
                <a:srgbClr val="666666"/>
              </a:solidFill>
              <a:latin typeface="Calibri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640080" y="6492240"/>
            <a:ext cx="10881360" cy="0"/>
          </a:xfrm>
          <a:prstGeom prst="line">
            <a:avLst/>
          </a:prstGeom>
          <a:ln w="1270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The Problem and the Goal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5440680" cy="475488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892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THE PROBLEM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2020824"/>
            <a:ext cx="489204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2286000"/>
            <a:ext cx="4892040" cy="3657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AI tools can now make videos that look completely real.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YouTube is full of AI-made shorts, often with no warning label.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Viewers cannot easily tell what is real and what is fake.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Existing tools either need the internet (privacy risk) or are often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44068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892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THE GOAL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37960" y="2020824"/>
            <a:ext cx="489204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37960" y="2286000"/>
            <a:ext cx="4892040" cy="3657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Build a browser add-on that warns viewers about AI shorts.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Works in real time while a video plays.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Runs on your own computer — videos stay private.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Shows a clear reason when a video is flagged.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System Overview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Two parts that talk to each other on your own computer: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3200400" cy="265176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Browser Extension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0" y="2697480"/>
            <a:ext cx="2286000" cy="0"/>
          </a:xfrm>
          <a:prstGeom prst="line">
            <a:avLst/>
          </a:prstGeom>
          <a:ln w="1270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97280" y="2880360"/>
            <a:ext cx="269748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Watches the playing video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Captures a few frames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Collects the video's title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8848" y="2011680"/>
            <a:ext cx="3200400" cy="265176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98848" y="219456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Local Program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56048" y="2697480"/>
            <a:ext cx="2286000" cy="0"/>
          </a:xfrm>
          <a:prstGeom prst="line">
            <a:avLst/>
          </a:prstGeom>
          <a:ln w="1270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73168" y="2880360"/>
            <a:ext cx="269748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Checks the frames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Uses an AI model + image checks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Turns them into one 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74736" y="2011680"/>
            <a:ext cx="3200400" cy="265176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74736" y="219456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Result Shown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31936" y="2697480"/>
            <a:ext cx="2286000" cy="0"/>
          </a:xfrm>
          <a:prstGeom prst="line">
            <a:avLst/>
          </a:prstGeom>
          <a:ln w="1270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49056" y="2880360"/>
            <a:ext cx="269748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A label around the video: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Low / Suspicious / Likely AI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66666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3D3D3D"/>
                </a:solidFill>
                <a:latin typeface="Calibri"/>
              </a:rPr>
              <a:t>Plus a short reason 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108960"/>
            <a:ext cx="457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3108960"/>
            <a:ext cx="457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10927080" cy="1005840"/>
          </a:xfrm>
          <a:prstGeom prst="rect">
            <a:avLst/>
          </a:prstGeom>
          <a:solidFill>
            <a:srgbClr val="E7E7E7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10424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 dirty="0">
                <a:solidFill>
                  <a:srgbClr val="222222"/>
                </a:solidFill>
                <a:latin typeface="Calibri"/>
              </a:rPr>
              <a:t>Private by design:  </a:t>
            </a:r>
            <a:r>
              <a:rPr sz="1450" b="0" i="0" dirty="0">
                <a:solidFill>
                  <a:srgbClr val="3D3D3D"/>
                </a:solidFill>
                <a:latin typeface="Calibri"/>
              </a:rPr>
              <a:t>the extension and the checking program both run on your computer. The video frames are never uploaded anywhere. The models download only once, the first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How It Works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53312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Capture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459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The extension grabs 8 still frames from the video as it plays.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71600" y="1965960"/>
            <a:ext cx="10058400" cy="0"/>
          </a:xfrm>
          <a:prstGeom prst="line">
            <a:avLst/>
          </a:prstGeom>
          <a:ln w="635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40080" y="2011680"/>
            <a:ext cx="50292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93392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Check the frames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An AI model and simple image checks each look at the frames.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71600" y="2606040"/>
            <a:ext cx="10058400" cy="0"/>
          </a:xfrm>
          <a:prstGeom prst="line">
            <a:avLst/>
          </a:prstGeom>
          <a:ln w="635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0080" y="2651760"/>
            <a:ext cx="50292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633472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Turn into numbers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92608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Every check produces a number that measures how "AI-like" the frame 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71600" y="3246120"/>
            <a:ext cx="10058400" cy="0"/>
          </a:xfrm>
          <a:prstGeom prst="line">
            <a:avLst/>
          </a:prstGeom>
          <a:ln w="635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273552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Combine into one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56616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All the numbers are joined into a single AI score from 0 to 1.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71600" y="3886200"/>
            <a:ext cx="10058400" cy="0"/>
          </a:xfrm>
          <a:prstGeom prst="line">
            <a:avLst/>
          </a:prstGeom>
          <a:ln w="6350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40080" y="3931920"/>
            <a:ext cx="50292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93192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913632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Show a label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20624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The score becomes a clear label shown around the video.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920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The three labels: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257800"/>
            <a:ext cx="3474720" cy="64008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257800"/>
            <a:ext cx="146304" cy="640080"/>
          </a:xfrm>
          <a:prstGeom prst="rect">
            <a:avLst/>
          </a:prstGeom>
          <a:solidFill>
            <a:srgbClr val="CFC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30352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Low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96128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score below 0.46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5257800"/>
            <a:ext cx="3474720" cy="64008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70832" y="5257800"/>
            <a:ext cx="146304" cy="64008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45152" y="530352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Suspicious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5596128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0.46 to 0.65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01583" y="5257800"/>
            <a:ext cx="3474720" cy="64008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01583" y="5257800"/>
            <a:ext cx="146304" cy="64008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75903" y="530352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Likely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3" y="5596128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0.65 and above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The AI Image Detector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927080" cy="13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424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What it is: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a pre-trained AI model (in fact two open-source models combined) that is good at telling AI-made images from real ones. It is the strongest single signal we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HOW IT IS USED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392424"/>
            <a:ext cx="512064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611880"/>
            <a:ext cx="512064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Looks at 3 frames taken from the video.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Gives each frame an "AI chance" between 0 and 1.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We use the highest chance it finds.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One fake-looking frame is enough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06324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HONEST NOTE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55080" y="3392424"/>
            <a:ext cx="521208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55080" y="3611880"/>
            <a:ext cx="521208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dirty="0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3D3D3D"/>
                </a:solidFill>
                <a:latin typeface="Calibri"/>
              </a:rPr>
              <a:t>I did not train this model from scratch.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dirty="0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3D3D3D"/>
                </a:solidFill>
                <a:latin typeface="Calibri"/>
              </a:rPr>
              <a:t>I used ready-made, open-source models.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dirty="0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3D3D3D"/>
                </a:solidFill>
                <a:latin typeface="Calibri"/>
              </a:rPr>
              <a:t>My work is the system around them: combining their</a:t>
            </a:r>
            <a:r>
              <a:rPr lang="en-US" sz="1500" b="0" i="0" dirty="0">
                <a:solidFill>
                  <a:srgbClr val="3D3D3D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3D3D3D"/>
                </a:solidFill>
                <a:latin typeface="Calibri"/>
              </a:rPr>
              <a:t>result with other checks to get a reliable score.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The Algorithm: Random Forest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6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927080" cy="118872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04241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What it is: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Random Forest is an ensemble (group) of many decision trees. Each tree is trained on a random sample of the data and casts one vote; the forest's answer is the majority vote. It is one of the most widely used and trusted machine-learning methods, and easy to explain.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5669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HOW IT WORKS   (pseudocode)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209544"/>
            <a:ext cx="566928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3310128"/>
            <a:ext cx="5669280" cy="2907792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3474720"/>
            <a:ext cx="516636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</a:t>
            </a:r>
            <a:r>
              <a:rPr sz="1150" b="0" i="0">
                <a:solidFill>
                  <a:srgbClr val="909090"/>
                </a:solidFill>
                <a:latin typeface="Consolas"/>
              </a:rPr>
              <a:t># 1. Build 400 independent decision trees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forest = []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for i in range(400):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   sample = random_subset(data)   </a:t>
            </a:r>
            <a:r>
              <a:rPr sz="1150" b="0" i="0">
                <a:solidFill>
                  <a:srgbClr val="909090"/>
                </a:solidFill>
                <a:latin typeface="Consolas"/>
              </a:rPr>
              <a:t># each tree sees different data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   tree   = build_tree(sample)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   forest.append(tree)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</a:t>
            </a:r>
            <a:r>
              <a:rPr sz="1150" b="0" i="0">
                <a:solidFill>
                  <a:srgbClr val="909090"/>
                </a:solidFill>
                <a:latin typeface="Consolas"/>
              </a:rPr>
              <a:t># 2. Predict one new video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votes = [t.predict(x) for t in forest]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score = sum(votes) / 400           </a:t>
            </a:r>
            <a:r>
              <a:rPr sz="1150" b="0" i="0">
                <a:solidFill>
                  <a:srgbClr val="909090"/>
                </a:solidFill>
                <a:latin typeface="Consolas"/>
              </a:rPr>
              <a:t># each tree casts one vote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 </a:t>
            </a:r>
            <a:r>
              <a:rPr sz="1150" b="0" i="0">
                <a:solidFill>
                  <a:srgbClr val="909090"/>
                </a:solidFill>
                <a:latin typeface="Consolas"/>
              </a:rPr>
              <a:t># 3. Blend with the hand rules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7E7E7"/>
                </a:solidFill>
                <a:latin typeface="Consolas"/>
              </a:rPr>
              <a:t>final = 0.30 * manual + 0.70 *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WHY THIS METHOD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37960" y="3209544"/>
            <a:ext cx="502920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37960" y="3383280"/>
            <a:ext cx="5029200" cy="1783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666666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3D3D3D"/>
                </a:solidFill>
                <a:latin typeface="Calibri"/>
              </a:rPr>
              <a:t>Works well on small data (1,521 videos).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666666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3D3D3D"/>
                </a:solidFill>
                <a:latin typeface="Calibri"/>
              </a:rPr>
              <a:t>Many trees average out errors — resists overfitting.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666666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3D3D3D"/>
                </a:solidFill>
                <a:latin typeface="Calibri"/>
              </a:rPr>
              <a:t>Shows which checks matter most (feature importance).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666666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3D3D3D"/>
                </a:solidFill>
                <a:latin typeface="Calibri"/>
              </a:rPr>
              <a:t>Fast to train and to run on a home computer.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0749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THE SPLIT RULE  (Gini impurity)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37960" y="5404104"/>
            <a:ext cx="502920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537960" y="5504688"/>
            <a:ext cx="50292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5504688"/>
            <a:ext cx="50292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onsolas"/>
              </a:rPr>
              <a:t>Gini  =  1  −  ( p₀² + p₁²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6089904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66666"/>
                </a:solidFill>
                <a:latin typeface="Calibri"/>
              </a:rPr>
              <a:t>pᵢ = share of class i in a node.   Lower Gini = a cleaner split.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Combining Everything  (the main idea)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7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927080" cy="1188720"/>
          </a:xfrm>
          <a:prstGeom prst="rect">
            <a:avLst/>
          </a:prstGeom>
          <a:solidFill>
            <a:srgbClr val="E7E7E7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The key point:  </a:t>
            </a:r>
            <a:r>
              <a:rPr sz="1600" b="0" i="0">
                <a:solidFill>
                  <a:srgbClr val="3D3D3D"/>
                </a:solidFill>
                <a:latin typeface="Calibri"/>
              </a:rPr>
              <a:t>no single check can reliably spot AI video on its own. So the project combines many weak checks into one reliable score. This is the main contribution.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HOW THE CHECKS ARE COMBINED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209544"/>
            <a:ext cx="1088136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474720"/>
            <a:ext cx="1088136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All checks become a list of about 17 numbers per video.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A Random Forest (many simple decision trees) takes these numbers and votes on a final answer.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Each check adds its own vote; the result is one AI score.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666666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3D3D3D"/>
                </a:solidFill>
                <a:latin typeface="Calibri"/>
              </a:rPr>
              <a:t>The AI model's result carries the most weight, but the other checks confirm or correct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623560"/>
            <a:ext cx="10927080" cy="77724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2708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Result: combining the checks lifts accuracy from about 50% (the AI model alone) to 89%.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The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3D3D3D"/>
                </a:solidFill>
                <a:latin typeface="Calibri"/>
              </a:rPr>
              <a:t>1,521 YouTube Shorts were collected and sorted into three groups: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Real videos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32304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Calibri"/>
              </a:rPr>
              <a:t>normal, human-made content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2148840"/>
            <a:ext cx="6400800" cy="36576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0" y="2148840"/>
            <a:ext cx="6150234" cy="365760"/>
          </a:xfrm>
          <a:prstGeom prst="rect">
            <a:avLst/>
          </a:prstGeom>
          <a:solidFill>
            <a:srgbClr val="CFC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84874" y="2121408"/>
            <a:ext cx="914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540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Edited videos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75304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Calibri"/>
              </a:rPr>
              <a:t>heavily edited or CGI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291840"/>
            <a:ext cx="6400800" cy="36576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0" y="3291840"/>
            <a:ext cx="4772126" cy="3657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06766" y="3264408"/>
            <a:ext cx="914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419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AI-made videos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18304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66666"/>
                </a:solidFill>
                <a:latin typeface="Calibri"/>
              </a:rPr>
              <a:t>made by 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4434840"/>
            <a:ext cx="6400800" cy="36576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743200" y="4434840"/>
            <a:ext cx="6400800" cy="36576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4407408"/>
            <a:ext cx="914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22222"/>
                </a:solidFill>
                <a:latin typeface="Calibri"/>
              </a:rPr>
              <a:t>562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23560"/>
            <a:ext cx="10927080" cy="77724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092708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D3D3D"/>
                </a:solidFill>
                <a:latin typeface="Calibri"/>
              </a:rPr>
              <a:t>For training, the Real and Edited groups were merged into one "not-AI" group (959 videos) against the AI group (562).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Training and Testing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HOW THE MODEL WAS 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746504"/>
            <a:ext cx="530352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1965960"/>
            <a:ext cx="530352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The same checks used at runtime were run on every video to build the training data.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The data was split into 5 parts (cross-validation).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Each video was tested once on data it had not seen.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Several model settings were tried to find the best one.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The bigger "not-AI" group was weighted so it would not bias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1732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THE FINAL MODEL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1746504"/>
            <a:ext cx="521208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1965960"/>
            <a:ext cx="521208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A Random Forest with 400 simple decision trees.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Tree depth kept low to avoid memorizing the data.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Trained on all the data once the best settings were found.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Saved as a single file the program loads at startup.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Final testing done on videos the model had never seen.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10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927080" cy="132588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270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89.3%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27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7E7E7"/>
                </a:solidFill>
                <a:latin typeface="Calibri"/>
              </a:rPr>
              <a:t>overall accuracy  —  of all 1,521 videos, this many were labeled correctly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27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22222"/>
                </a:solidFill>
                <a:latin typeface="Calibri"/>
              </a:rPr>
              <a:t>The full breakdown   (rows = truth, columns = prediction)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328" y="3611880"/>
            <a:ext cx="155448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67328" y="361188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21808" y="3611880"/>
            <a:ext cx="155448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21808" y="361188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Not-AI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6288" y="3611880"/>
            <a:ext cx="155448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76288" y="361188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67328" y="4114800"/>
            <a:ext cx="155448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67328" y="411480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Not-AI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21808" y="4114800"/>
            <a:ext cx="1554480" cy="502920"/>
          </a:xfrm>
          <a:prstGeom prst="rect">
            <a:avLst/>
          </a:prstGeom>
          <a:solidFill>
            <a:srgbClr val="E7E7E7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21808" y="411480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</a:rPr>
              <a:t>951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76288" y="4114800"/>
            <a:ext cx="1554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76288" y="411480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67328" y="4617720"/>
            <a:ext cx="1554480" cy="50292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67328" y="461772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21808" y="4617720"/>
            <a:ext cx="1554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21808" y="461772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154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76288" y="4617720"/>
            <a:ext cx="1554480" cy="502920"/>
          </a:xfrm>
          <a:prstGeom prst="rect">
            <a:avLst/>
          </a:prstGeom>
          <a:solidFill>
            <a:srgbClr val="E7E7E7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76288" y="4617720"/>
            <a:ext cx="1554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</a:rPr>
              <a:t>408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349240"/>
            <a:ext cx="1092708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0" i="0" dirty="0">
                <a:solidFill>
                  <a:srgbClr val="3D3D3D"/>
                </a:solidFill>
                <a:latin typeface="Calibri"/>
              </a:rPr>
              <a:t>951 real videos and 408 AI videos were labeled correctly; only 8 were wrongly accused.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22222"/>
                </a:solidFill>
                <a:latin typeface="Calibri"/>
              </a:rPr>
              <a:t>Limits and Future 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81360" cy="0"/>
          </a:xfrm>
          <a:prstGeom prst="line">
            <a:avLst/>
          </a:prstGeom>
          <a:ln w="1587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247120" y="6455664"/>
            <a:ext cx="822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09090"/>
                </a:solidFill>
                <a:latin typeface="Calibri"/>
              </a:rPr>
              <a:t>11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5440680" cy="4754880"/>
          </a:xfrm>
          <a:prstGeom prst="rect">
            <a:avLst/>
          </a:prstGeom>
          <a:solidFill>
            <a:srgbClr val="F2F2F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892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CURRENT LIMITS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2020824"/>
            <a:ext cx="489204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2286000"/>
            <a:ext cx="4892040" cy="3840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The same video may score slightly differently each run, because frames are grabbed on a timer.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Sometimes real videos get flagged; the combined score keeps this low but not zero.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Only 1,521 videos — newer AI tools may still fool 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It partly relies on the video's title, which can be missing or changed.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44068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892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FUTURE WORK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37960" y="2020824"/>
            <a:ext cx="4892040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37960" y="2286000"/>
            <a:ext cx="4892040" cy="3840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Grab frames at fixed times so results are stable.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Collect a larger dataset with newer AI videos.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Tell apart a separate "suspicious" middle group.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Support longer videos, not only shorts.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66666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3D3D3D"/>
                </a:solidFill>
                <a:latin typeface="Calibri"/>
              </a:rPr>
              <a:t>Test how well it resists deliberate trickery.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1280160"/>
            <a:ext cx="108813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Conclusion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2011680"/>
            <a:ext cx="2743200" cy="0"/>
          </a:xfrm>
          <a:prstGeom prst="line">
            <a:avLst/>
          </a:prstGeom>
          <a:ln w="1905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423160"/>
            <a:ext cx="10881360" cy="3108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50" b="1">
                <a:solidFill>
                  <a:srgbClr val="666666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3D3D3D"/>
                </a:solidFill>
                <a:latin typeface="Calibri"/>
              </a:rPr>
              <a:t>Monet combines an AI image model with simple image checks to detect AI-made shorts.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50" b="1">
                <a:solidFill>
                  <a:srgbClr val="666666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3D3D3D"/>
                </a:solidFill>
                <a:latin typeface="Calibri"/>
              </a:rPr>
              <a:t>It runs privately on the user's own computer — no video is uploaded.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50" b="1">
                <a:solidFill>
                  <a:srgbClr val="666666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3D3D3D"/>
                </a:solidFill>
                <a:latin typeface="Calibri"/>
              </a:rPr>
              <a:t>The main contribution is the combining step: many weak checks joined into one reliable score.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50" b="1">
                <a:solidFill>
                  <a:srgbClr val="666666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3D3D3D"/>
                </a:solidFill>
                <a:latin typeface="Calibri"/>
              </a:rPr>
              <a:t>It reaches 89% accuracy with very few false alarms.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0560" y="4846321"/>
            <a:ext cx="10927080" cy="777240"/>
          </a:xfrm>
          <a:prstGeom prst="rect">
            <a:avLst/>
          </a:prstGeom>
          <a:solidFill>
            <a:srgbClr val="222222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031302"/>
            <a:ext cx="10881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Thank you  ·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1364</Words>
  <Application>Microsoft Macintosh PowerPoint</Application>
  <PresentationFormat>Widescreen</PresentationFormat>
  <Paragraphs>166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Bipul Kunwar</cp:lastModifiedBy>
  <cp:revision>2</cp:revision>
  <dcterms:created xsi:type="dcterms:W3CDTF">2013-01-27T09:14:16Z</dcterms:created>
  <dcterms:modified xsi:type="dcterms:W3CDTF">2026-07-23T17:59:30Z</dcterms:modified>
  <cp:category/>
</cp:coreProperties>
</file>